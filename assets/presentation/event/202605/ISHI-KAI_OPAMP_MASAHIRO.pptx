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301" r:id="rId7"/>
    <p:sldId id="300" r:id="rId8"/>
    <p:sldId id="303" r:id="rId9"/>
    <p:sldId id="302" r:id="rId10"/>
    <p:sldId id="304" r:id="rId11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作成者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5646" autoAdjust="0"/>
  </p:normalViewPr>
  <p:slideViewPr>
    <p:cSldViewPr snapToGrid="0">
      <p:cViewPr varScale="1">
        <p:scale>
          <a:sx n="102" d="100"/>
          <a:sy n="102" d="100"/>
        </p:scale>
        <p:origin x="954" y="96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97" d="100"/>
          <a:sy n="97" d="100"/>
        </p:scale>
        <p:origin x="286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sz="1200"/>
            </a:lvl1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ja-JP" sz="1200"/>
            </a:lvl1pPr>
          </a:lstStyle>
          <a:p>
            <a:pPr rtl="0"/>
            <a:fld id="{2912E217-2403-4DA5-84C1-2E48A381214C}" type="datetime1"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2026/5/3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sz="1200"/>
            </a:lvl1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ja-JP" sz="1200"/>
            </a:lvl1pPr>
          </a:lstStyle>
          <a:p>
            <a:pPr rtl="0"/>
            <a:fld id="{EAFF3A6F-DEFA-45E0-9496-BEE7C2C6F3D0}" type="slidenum">
              <a:rPr 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AB3D4BF9-D420-4FAA-8A3B-F85C45353287}" type="datetime1">
              <a:rPr lang="ja-JP" altLang="en-US" smtClean="0"/>
              <a:t>2026/5/3</a:t>
            </a:fld>
            <a:endParaRPr lang="en-US" dirty="0">
              <a:ea typeface="Meiryo UI" panose="020B0604030504040204" pitchFamily="50" charset="-128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ja-JP"/>
            </a:defPPr>
          </a:lstStyle>
          <a:p>
            <a:pPr lvl="0" rtl="0"/>
            <a:r>
              <a:rPr lang="ja-JP"/>
              <a:t>クリックしてマスター テキストのスタイルを編集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ea typeface="Meiryo UI" panose="020B0604030504040204" pitchFamily="50" charset="-128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F97DC217-DF71-1A49-B3EA-559F1F43B0FF}" type="slidenum">
              <a:rPr lang="en-US" altLang="ja-JP" smtClean="0"/>
              <a:pPr/>
              <a:t>‹#›</a:t>
            </a:fld>
            <a:endParaRPr lang="en-US" altLang="en-US" dirty="0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6pPr>
    <a:lvl7pPr marL="27432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7pPr>
    <a:lvl8pPr marL="32004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8pPr>
    <a:lvl9pPr marL="36576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F97DC217-DF71-1A49-B3EA-559F1F43B0FF}" type="slidenum">
              <a:rPr 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F97DC217-DF71-1A49-B3EA-559F1F43B0FF}" type="slidenum">
              <a:rPr 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長方形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7" name="グループ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円/楕円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フリーフォーム(F)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" name="フリーフォーム(F)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grpSp>
          <p:nvGrpSpPr>
            <p:cNvPr id="6" name="グループ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フリーフォーム(F)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ja-JP"/>
                </a:defPPr>
              </a:lstStyle>
              <a:p>
                <a:pPr algn="ctr" rtl="0"/>
                <a:endParaRPr lang="ja-JP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16" name="フリーフォーム(F)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ja-JP"/>
                </a:defPPr>
              </a:lstStyle>
              <a:p>
                <a:pPr algn="ctr" rtl="0"/>
                <a:endParaRPr lang="ja-JP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  <p:sp>
          <p:nvSpPr>
            <p:cNvPr id="22" name="フリーフォーム(F)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8" name="フリーフォーム(F)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rtlCol="0" anchor="b">
            <a:noAutofit/>
          </a:bodyPr>
          <a:lstStyle>
            <a:lvl1pPr algn="l">
              <a:defRPr lang="ja-JP" sz="60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グループ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フリーフォーム(F)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" name="フリーフォーム(F)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6" name="フリーフォーム(F)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grpSp>
          <p:nvGrpSpPr>
            <p:cNvPr id="9" name="グループ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フリーフォーム(F)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ja-JP"/>
                </a:defPPr>
              </a:lstStyle>
              <a:p>
                <a:pPr algn="ctr" rtl="0"/>
                <a:endParaRPr lang="ja-JP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8" name="フリーフォーム(F)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ja-JP"/>
                </a:defPPr>
              </a:lstStyle>
              <a:p>
                <a:pPr algn="ctr" rtl="0"/>
                <a:endParaRPr lang="ja-JP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rtlCol="0" anchor="b">
            <a:noAutofit/>
          </a:bodyPr>
          <a:lstStyle>
            <a:lvl1pPr>
              <a:defRPr lang="ja-JP" sz="42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 rtlCol="0">
            <a:normAutofit/>
          </a:bodyPr>
          <a:lstStyle>
            <a:lvl1pPr marL="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91440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37160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82880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dirty="0"/>
              <a:t>クリックしてテキストを追加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10" name="日付プレースホルダー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ja-JP" sz="120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20XX/9/8</a:t>
            </a:r>
          </a:p>
        </p:txBody>
      </p:sp>
      <p:sp>
        <p:nvSpPr>
          <p:cNvPr id="11" name="フッター プレースホルダー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ja-JP" sz="120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12" name="スライド番号プレースホルダー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ja-JP" sz="120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長方形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" name="フリーフォーム(F)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" name="フリーフォーム(F)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" name="フリーフォーム(F)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3" name="タイトル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rtlCol="0" anchor="b">
            <a:noAutofit/>
          </a:bodyPr>
          <a:lstStyle>
            <a:lvl1pPr>
              <a:defRPr lang="ja-JP" sz="42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 rtlCol="0"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dirty="0"/>
              <a:t>クリックしてテキストを追加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 lang="ja-JP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20XX/9/8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 lang="ja-JP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 lang="ja-JP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セクションの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フリーフォーム(F)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grpSp>
          <p:nvGrpSpPr>
            <p:cNvPr id="6" name="グループ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フリーフォーム(F)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ja-JP"/>
                </a:defPPr>
              </a:lstStyle>
              <a:p>
                <a:pPr algn="ctr" rtl="0"/>
                <a:endParaRPr lang="ja-JP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16" name="フリーフォーム(F)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ja-JP"/>
                </a:defPPr>
              </a:lstStyle>
              <a:p>
                <a:pPr algn="ctr" rtl="0"/>
                <a:endParaRPr lang="ja-JP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  <p:sp>
          <p:nvSpPr>
            <p:cNvPr id="17" name="フリーフォーム(F)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8" name="フリーフォーム(F)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rtlCol="0" anchor="b">
            <a:noAutofit/>
          </a:bodyPr>
          <a:lstStyle>
            <a:lvl1pPr algn="l">
              <a:defRPr lang="ja-JP" sz="6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rtlCol="0" anchor="ctr" anchorCtr="0">
            <a:noAutofit/>
          </a:bodyPr>
          <a:lstStyle>
            <a:lvl1pPr marL="0" indent="0" algn="l">
              <a:buNone/>
              <a:defRPr lang="ja-JP" sz="3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lang="ja-JP" sz="2000"/>
            </a:lvl2pPr>
            <a:lvl3pPr marL="914400" indent="0" algn="ctr">
              <a:buNone/>
              <a:defRPr lang="ja-JP" sz="1800"/>
            </a:lvl3pPr>
            <a:lvl4pPr marL="1371600" indent="0" algn="ctr">
              <a:buNone/>
              <a:defRPr lang="ja-JP" sz="1600"/>
            </a:lvl4pPr>
            <a:lvl5pPr marL="1828800" indent="0" algn="ctr">
              <a:buNone/>
              <a:defRPr lang="ja-JP" sz="1600"/>
            </a:lvl5pPr>
            <a:lvl6pPr marL="2286000" indent="0" algn="ctr">
              <a:buNone/>
              <a:defRPr lang="ja-JP" sz="1600"/>
            </a:lvl6pPr>
            <a:lvl7pPr marL="2743200" indent="0" algn="ctr">
              <a:buNone/>
              <a:defRPr lang="ja-JP" sz="1600"/>
            </a:lvl7pPr>
            <a:lvl8pPr marL="3200400" indent="0" algn="ctr">
              <a:buNone/>
              <a:defRPr lang="ja-JP" sz="1600"/>
            </a:lvl8pPr>
            <a:lvl9pPr marL="3657600" indent="0" algn="ctr">
              <a:buNone/>
              <a:defRPr lang="ja-JP" sz="1600"/>
            </a:lvl9pPr>
          </a:lstStyle>
          <a:p>
            <a:pPr rtl="0"/>
            <a:r>
              <a:rPr lang="ja-JP" dirty="0"/>
              <a:t>クリックしてサブタイトルを追加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 2 列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グループ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フリーフォーム(F)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" name="フリーフォーム(F)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6" name="フリーフォーム(F)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grpSp>
          <p:nvGrpSpPr>
            <p:cNvPr id="9" name="グループ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フリーフォーム(F)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ja-JP"/>
                </a:defPPr>
              </a:lstStyle>
              <a:p>
                <a:pPr algn="ctr" rtl="0"/>
                <a:endParaRPr lang="ja-JP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8" name="フリーフォーム(F)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ja-JP"/>
                </a:defPPr>
              </a:lstStyle>
              <a:p>
                <a:pPr algn="ctr" rtl="0"/>
                <a:endParaRPr lang="ja-JP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Autofit/>
          </a:bodyPr>
          <a:lstStyle>
            <a:lvl1pPr>
              <a:defRPr lang="ja-JP" sz="42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dirty="0"/>
              <a:t>クリックしてテキストを追加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dirty="0"/>
              <a:t>クリックしてテキストを追加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10" name="日付プレースホルダー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ja-JP" sz="120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20XX/9/8</a:t>
            </a:r>
          </a:p>
        </p:txBody>
      </p:sp>
      <p:sp>
        <p:nvSpPr>
          <p:cNvPr id="11" name="フッター プレースホルダー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ja-JP" sz="120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12" name="スライド番号プレースホルダー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ja-JP" sz="120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 2 コンテンツ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フリーフォーム(F)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" name="フリーフォーム(F)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rtlCol="0" anchor="b">
            <a:noAutofit/>
          </a:bodyPr>
          <a:lstStyle>
            <a:lvl1pPr>
              <a:defRPr lang="ja-JP" sz="42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dirty="0"/>
              <a:t>クリックしてテキストを追加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dirty="0"/>
              <a:t>クリックしてテキストを追加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10" name="日付プレースホルダー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ja-JP" sz="120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20XX/9/8</a:t>
            </a:r>
          </a:p>
        </p:txBody>
      </p:sp>
      <p:sp>
        <p:nvSpPr>
          <p:cNvPr id="11" name="フッター プレースホルダー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ja-JP" sz="120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12" name="スライド番号プレースホルダー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ja-JP" sz="120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、コンテンツ、画像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7" name="長方形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" name="フリーフォーム(F)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" name="フリーフォーム(F)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3" name="タイトル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10643508" cy="1371600"/>
          </a:xfrm>
        </p:spPr>
        <p:txBody>
          <a:bodyPr rtlCol="0" anchor="b">
            <a:noAutofit/>
          </a:bodyPr>
          <a:lstStyle>
            <a:lvl1pPr>
              <a:defRPr lang="ja-JP" sz="42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B07A1CF7-9B3B-E43E-830E-DAB65B60824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66088" y="2652713"/>
            <a:ext cx="5394959" cy="3436936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dirty="0"/>
              <a:t>クリックしてテキストを追加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8" name="図プレースホルダー 14">
            <a:extLst>
              <a:ext uri="{FF2B5EF4-FFF2-40B4-BE49-F238E27FC236}">
                <a16:creationId xmlns:a16="http://schemas.microsoft.com/office/drawing/2014/main" id="{D976D8D6-3BDC-1908-3425-FEE3EEF51A2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dirty="0"/>
              <a:t>アイコンをクリックして画像を追加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 lang="ja-JP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20XX/9/8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 lang="ja-JP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 lang="ja-JP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93030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フリーフォーム(F)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" name="フリーフォーム(F)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rtlCol="0" anchor="b">
            <a:noAutofit/>
          </a:bodyPr>
          <a:lstStyle>
            <a:lvl1pPr>
              <a:defRPr lang="ja-JP" sz="42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 rtlCol="0">
            <a:noAutofit/>
          </a:bodyPr>
          <a:lstStyle>
            <a:lvl1pPr marL="0" indent="0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914400" indent="0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371600" indent="0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828800" indent="0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dirty="0"/>
              <a:t>クリックしてテキストを追加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 rtlCol="0">
            <a:noAutofit/>
          </a:bodyPr>
          <a:lstStyle>
            <a:lvl1pPr marL="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91440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37160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82880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dirty="0"/>
              <a:t>クリックしてコンテンツを追加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10" name="日付プレースホルダー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ja-JP" sz="120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20XX/9/8</a:t>
            </a:r>
          </a:p>
        </p:txBody>
      </p:sp>
      <p:sp>
        <p:nvSpPr>
          <p:cNvPr id="11" name="フッター プレースホルダー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ja-JP" sz="120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12" name="スライド番号プレースホルダー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ja-JP" sz="120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グラフ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フリーフォーム(F)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" name="フリーフォーム(F)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rtlCol="0" anchor="b">
            <a:noAutofit/>
          </a:bodyPr>
          <a:lstStyle>
            <a:lvl1pPr>
              <a:defRPr lang="ja-JP" sz="42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91440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37160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82880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dirty="0"/>
              <a:t>クリックしてテキストを追加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10" name="日付プレースホルダー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ja-JP" sz="120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20XX/9/8</a:t>
            </a:r>
          </a:p>
        </p:txBody>
      </p:sp>
      <p:sp>
        <p:nvSpPr>
          <p:cNvPr id="11" name="フッター プレースホルダー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ja-JP" sz="120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12" name="スライド番号プレースホルダー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ja-JP" sz="120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終了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長方形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grpSp>
          <p:nvGrpSpPr>
            <p:cNvPr id="6" name="グループ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フリーフォーム(F)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ja-JP"/>
                </a:defPPr>
              </a:lstStyle>
              <a:p>
                <a:pPr algn="ctr" rtl="0"/>
                <a:endParaRPr lang="ja-JP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16" name="フリーフォーム(F)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ja-JP"/>
                </a:defPPr>
              </a:lstStyle>
              <a:p>
                <a:pPr algn="ctr" rtl="0"/>
                <a:endParaRPr lang="ja-JP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  <p:sp>
          <p:nvSpPr>
            <p:cNvPr id="22" name="フリーフォーム(F)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7" name="フリーフォーム(F)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rtlCol="0" anchor="b">
            <a:noAutofit/>
          </a:bodyPr>
          <a:lstStyle>
            <a:lvl1pPr algn="l">
              <a:defRPr lang="ja-JP" sz="60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rtlCol="0" anchor="t" anchorCtr="0">
            <a:normAutofit/>
          </a:bodyPr>
          <a:lstStyle>
            <a:lvl1pPr marL="0" indent="0" algn="l">
              <a:buNone/>
              <a:defRPr lang="ja-JP" sz="2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lang="ja-JP" sz="2000"/>
            </a:lvl2pPr>
            <a:lvl3pPr marL="914400" indent="0" algn="ctr">
              <a:buNone/>
              <a:defRPr lang="ja-JP" sz="1800"/>
            </a:lvl3pPr>
            <a:lvl4pPr marL="1371600" indent="0" algn="ctr">
              <a:buNone/>
              <a:defRPr lang="ja-JP" sz="1600"/>
            </a:lvl4pPr>
            <a:lvl5pPr marL="1828800" indent="0" algn="ctr">
              <a:buNone/>
              <a:defRPr lang="ja-JP" sz="1600"/>
            </a:lvl5pPr>
            <a:lvl6pPr marL="2286000" indent="0" algn="ctr">
              <a:buNone/>
              <a:defRPr lang="ja-JP" sz="1600"/>
            </a:lvl6pPr>
            <a:lvl7pPr marL="2743200" indent="0" algn="ctr">
              <a:buNone/>
              <a:defRPr lang="ja-JP" sz="1600"/>
            </a:lvl7pPr>
            <a:lvl8pPr marL="3200400" indent="0" algn="ctr">
              <a:buNone/>
              <a:defRPr lang="ja-JP" sz="1600"/>
            </a:lvl8pPr>
            <a:lvl9pPr marL="3657600" indent="0" algn="ctr">
              <a:buNone/>
              <a:defRPr lang="ja-JP" sz="1600"/>
            </a:lvl9pPr>
          </a:lstStyle>
          <a:p>
            <a:pPr lvl="0" rtl="0"/>
            <a:r>
              <a:rPr lang="ja-JP" dirty="0"/>
              <a:t>クリックしてテキストを追加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1B61BD-2E4B-5486-14CE-1AB6528C7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754AC4E-65D4-96E2-22F0-E87387740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A2BD1-1831-4F11-B263-6916C5686805}" type="datetime1">
              <a:rPr kumimoji="1" lang="ja-JP" altLang="en-US" smtClean="0"/>
              <a:t>2026/5/3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F349A1E-9A01-81F1-720D-5584F9F0E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166BF72-CDCF-42B5-EFA2-580F3CD1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2271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ja-JP"/>
            </a:defPPr>
          </a:lstStyle>
          <a:p>
            <a:pPr rtl="0"/>
            <a:r>
              <a:rPr lang="ja-JP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ja-JP"/>
            </a:defPPr>
          </a:lstStyle>
          <a:p>
            <a:pPr lvl="0" rtl="0"/>
            <a:r>
              <a:rPr lang="ja-JP" dirty="0"/>
              <a:t>クリックしてマスター テキストのスタイルを編集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ja-JP" sz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20XX/9/8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ja-JP" sz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ja-JP" sz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59" r:id="rId4"/>
    <p:sldLayoutId id="2147483668" r:id="rId5"/>
    <p:sldLayoutId id="2147483669" r:id="rId6"/>
    <p:sldLayoutId id="2147483675" r:id="rId7"/>
    <p:sldLayoutId id="2147483677" r:id="rId8"/>
    <p:sldLayoutId id="2147483661" r:id="rId9"/>
    <p:sldLayoutId id="2147483666" r:id="rId10"/>
    <p:sldLayoutId id="2147483678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lang="ja-JP" sz="4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lang="ja-JP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2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20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6277103" cy="3830130"/>
          </a:xfrm>
        </p:spPr>
        <p:txBody>
          <a:bodyPr rtlCol="0"/>
          <a:lstStyle>
            <a:defPPr>
              <a:defRPr lang="ja-JP"/>
            </a:defPPr>
          </a:lstStyle>
          <a:p>
            <a:pPr rtl="0">
              <a:lnSpc>
                <a:spcPct val="90000"/>
              </a:lnSpc>
            </a:pPr>
            <a:r>
              <a:rPr lang="en-US" altLang="ja-JP" sz="4800" dirty="0"/>
              <a:t>ISHI</a:t>
            </a:r>
            <a:r>
              <a:rPr lang="ja-JP" altLang="en-US" sz="4800" dirty="0"/>
              <a:t>会オペアンプ設計</a:t>
            </a:r>
            <a:endParaRPr lang="ja-JP" sz="48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DC0D7E9-FF22-C9EE-4957-717F9432C901}"/>
              </a:ext>
            </a:extLst>
          </p:cNvPr>
          <p:cNvSpPr txBox="1"/>
          <p:nvPr/>
        </p:nvSpPr>
        <p:spPr>
          <a:xfrm>
            <a:off x="8045405" y="5670596"/>
            <a:ext cx="1754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Masahiro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 altLang="en-US" dirty="0"/>
              <a:t>コンセプト</a:t>
            </a:r>
            <a:endParaRPr 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ctr">
            <a:normAutofit/>
          </a:bodyPr>
          <a:lstStyle>
            <a:defPPr>
              <a:defRPr lang="ja-JP"/>
            </a:defPPr>
          </a:lstStyle>
          <a:p>
            <a:pPr rtl="0"/>
            <a:r>
              <a:rPr lang="en-US" altLang="ja-JP" dirty="0"/>
              <a:t>RF</a:t>
            </a:r>
            <a:r>
              <a:rPr lang="ja-JP" altLang="en-US" dirty="0"/>
              <a:t>（数</a:t>
            </a:r>
            <a:r>
              <a:rPr lang="en-US" altLang="ja-JP" dirty="0"/>
              <a:t>MHz</a:t>
            </a:r>
            <a:r>
              <a:rPr lang="ja-JP" altLang="en-US" dirty="0"/>
              <a:t>）でも使えるオペアンプ</a:t>
            </a:r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C034DE4A-9C6B-D3A4-336C-BF01FB204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設計の基本方針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0103107-C854-7232-9F02-E9CFFF2E9939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ja-JP" altLang="en-US" dirty="0"/>
              <a:t>初段の差動増幅に</a:t>
            </a:r>
            <a:r>
              <a:rPr lang="en-US" altLang="ja-JP" dirty="0" err="1"/>
              <a:t>nMOSFET</a:t>
            </a:r>
            <a:r>
              <a:rPr lang="ja-JP" altLang="en-US" dirty="0"/>
              <a:t>を使用</a:t>
            </a:r>
            <a:endParaRPr lang="en-US" altLang="ja-JP" dirty="0"/>
          </a:p>
          <a:p>
            <a:pPr lvl="1"/>
            <a:r>
              <a:rPr lang="ja-JP" altLang="en-US" dirty="0"/>
              <a:t>みんな</a:t>
            </a:r>
            <a:r>
              <a:rPr lang="en-US" altLang="ja-JP" dirty="0" err="1"/>
              <a:t>pMOSFET</a:t>
            </a:r>
            <a:r>
              <a:rPr lang="ja-JP" altLang="en-US" dirty="0"/>
              <a:t>だから</a:t>
            </a:r>
            <a:r>
              <a:rPr lang="en-US" altLang="ja-JP" dirty="0" err="1"/>
              <a:t>nMOSFET</a:t>
            </a:r>
            <a:r>
              <a:rPr lang="ja-JP" altLang="en-US" dirty="0"/>
              <a:t>にしてみたかった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２段目はカスコードにする</a:t>
            </a:r>
            <a:endParaRPr lang="en-US" altLang="ja-JP" dirty="0"/>
          </a:p>
          <a:p>
            <a:pPr lvl="1"/>
            <a:r>
              <a:rPr lang="ja-JP" altLang="en-US" dirty="0"/>
              <a:t>ミラー効果減らして高域まで使えるようにできそう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929095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AAFE208E-814F-425E-B2F2-3FA79C992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全体回路</a:t>
            </a:r>
          </a:p>
        </p:txBody>
      </p:sp>
      <p:sp>
        <p:nvSpPr>
          <p:cNvPr id="10" name="コンテンツ プレースホルダー 9">
            <a:extLst>
              <a:ext uri="{FF2B5EF4-FFF2-40B4-BE49-F238E27FC236}">
                <a16:creationId xmlns:a16="http://schemas.microsoft.com/office/drawing/2014/main" id="{C9DB0A29-4F20-C889-A9E1-66736CE7B00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049F244B-A4BB-07E0-7D06-A3233F97D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8BE8898-C576-9EA3-050C-08DD3D3A44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4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0BEAF81-F728-F372-A922-76AD201CFA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2" t="33310" r="1449" b="3223"/>
          <a:stretch>
            <a:fillRect/>
          </a:stretch>
        </p:blipFill>
        <p:spPr>
          <a:xfrm>
            <a:off x="134121" y="2069299"/>
            <a:ext cx="11923758" cy="4219575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A273BEA-28A0-36F1-512E-95206C224A4D}"/>
              </a:ext>
            </a:extLst>
          </p:cNvPr>
          <p:cNvSpPr/>
          <p:nvPr/>
        </p:nvSpPr>
        <p:spPr>
          <a:xfrm>
            <a:off x="487680" y="2716885"/>
            <a:ext cx="4160520" cy="3512777"/>
          </a:xfrm>
          <a:prstGeom prst="rect">
            <a:avLst/>
          </a:prstGeom>
          <a:noFill/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48031B0-AD32-3516-913E-7AF35BAABF04}"/>
              </a:ext>
            </a:extLst>
          </p:cNvPr>
          <p:cNvSpPr txBox="1"/>
          <p:nvPr/>
        </p:nvSpPr>
        <p:spPr>
          <a:xfrm>
            <a:off x="1364775" y="2255219"/>
            <a:ext cx="2060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 dirty="0">
                <a:solidFill>
                  <a:schemeClr val="bg1"/>
                </a:solidFill>
              </a:rPr>
              <a:t>バイアス生成部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A069FB2-AD7E-DA34-BC99-A308759E5CB8}"/>
              </a:ext>
            </a:extLst>
          </p:cNvPr>
          <p:cNvSpPr/>
          <p:nvPr/>
        </p:nvSpPr>
        <p:spPr>
          <a:xfrm>
            <a:off x="5540991" y="2716884"/>
            <a:ext cx="3384645" cy="3516189"/>
          </a:xfrm>
          <a:prstGeom prst="rect">
            <a:avLst/>
          </a:pr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10C0324-22D2-2F6C-9271-181E8CF02111}"/>
              </a:ext>
            </a:extLst>
          </p:cNvPr>
          <p:cNvSpPr txBox="1"/>
          <p:nvPr/>
        </p:nvSpPr>
        <p:spPr>
          <a:xfrm>
            <a:off x="6317775" y="2255219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 dirty="0">
                <a:solidFill>
                  <a:schemeClr val="bg1"/>
                </a:solidFill>
              </a:rPr>
              <a:t>差動増幅回路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B5F8954-FFEC-9FB6-B94F-B889A02CF6E2}"/>
              </a:ext>
            </a:extLst>
          </p:cNvPr>
          <p:cNvSpPr/>
          <p:nvPr/>
        </p:nvSpPr>
        <p:spPr>
          <a:xfrm>
            <a:off x="9262110" y="4672197"/>
            <a:ext cx="1381506" cy="21907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F29746F-19B1-040D-6BCA-74C386061151}"/>
              </a:ext>
            </a:extLst>
          </p:cNvPr>
          <p:cNvSpPr txBox="1"/>
          <p:nvPr/>
        </p:nvSpPr>
        <p:spPr>
          <a:xfrm>
            <a:off x="9227844" y="488680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 dirty="0">
                <a:solidFill>
                  <a:schemeClr val="bg1"/>
                </a:solidFill>
              </a:rPr>
              <a:t>位相補償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B7E999D-94A3-3A04-AC23-FE1AFE527385}"/>
              </a:ext>
            </a:extLst>
          </p:cNvPr>
          <p:cNvSpPr/>
          <p:nvPr/>
        </p:nvSpPr>
        <p:spPr>
          <a:xfrm>
            <a:off x="10739120" y="3050280"/>
            <a:ext cx="965200" cy="2542033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D9BF9F6-489B-2523-A6EC-6D9CDEB0D713}"/>
              </a:ext>
            </a:extLst>
          </p:cNvPr>
          <p:cNvSpPr txBox="1"/>
          <p:nvPr/>
        </p:nvSpPr>
        <p:spPr>
          <a:xfrm>
            <a:off x="10670063" y="5607562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 dirty="0">
                <a:solidFill>
                  <a:schemeClr val="bg1"/>
                </a:solidFill>
              </a:rPr>
              <a:t>２段目</a:t>
            </a:r>
          </a:p>
        </p:txBody>
      </p:sp>
    </p:spTree>
    <p:extLst>
      <p:ext uri="{BB962C8B-B14F-4D97-AF65-F5344CB8AC3E}">
        <p14:creationId xmlns:p14="http://schemas.microsoft.com/office/powerpoint/2010/main" val="1144172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BDF28909-C02E-D822-F07E-F7ECE8BA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10643508" cy="1371600"/>
          </a:xfrm>
        </p:spPr>
        <p:txBody>
          <a:bodyPr/>
          <a:lstStyle/>
          <a:p>
            <a:r>
              <a:rPr lang="ja-JP" altLang="en-US" dirty="0"/>
              <a:t>レイアウトの方針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15167CF-0266-3FAD-2A46-34EE10614C86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166088" y="2652713"/>
            <a:ext cx="5394959" cy="3436936"/>
          </a:xfrm>
        </p:spPr>
        <p:txBody>
          <a:bodyPr/>
          <a:lstStyle/>
          <a:p>
            <a:r>
              <a:rPr lang="ja-JP" altLang="en-US" dirty="0"/>
              <a:t>とりあえず動くレイアウトにする</a:t>
            </a:r>
            <a:endParaRPr lang="en-US" altLang="ja-JP" dirty="0"/>
          </a:p>
          <a:p>
            <a:pPr lvl="1"/>
            <a:r>
              <a:rPr lang="en-US" altLang="ja-JP" dirty="0"/>
              <a:t>LVS</a:t>
            </a:r>
            <a:r>
              <a:rPr lang="ja-JP" altLang="en-US" dirty="0"/>
              <a:t>は絶対にパスするようにする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回路図となるべく同じ配置にする</a:t>
            </a:r>
            <a:endParaRPr lang="en-US" altLang="ja-JP" dirty="0"/>
          </a:p>
          <a:p>
            <a:pPr lvl="1"/>
            <a:r>
              <a:rPr lang="ja-JP" altLang="en-US" dirty="0"/>
              <a:t>あとで訳わからなくなるの怖かった</a:t>
            </a:r>
            <a:endParaRPr lang="en-US" altLang="ja-JP" dirty="0"/>
          </a:p>
          <a:p>
            <a:endParaRPr lang="ja-JP" altLang="en-US" dirty="0"/>
          </a:p>
        </p:txBody>
      </p:sp>
      <p:pic>
        <p:nvPicPr>
          <p:cNvPr id="8" name="図プレースホルダー 7" descr="プロセッサ 単色塗りつぶし">
            <a:extLst>
              <a:ext uri="{FF2B5EF4-FFF2-40B4-BE49-F238E27FC236}">
                <a16:creationId xmlns:a16="http://schemas.microsoft.com/office/drawing/2014/main" id="{351D1FB4-792D-BA10-8814-C7D7D3C958B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318375" y="1447800"/>
            <a:ext cx="4213225" cy="4213225"/>
          </a:xfrm>
        </p:spPr>
      </p:pic>
    </p:spTree>
    <p:extLst>
      <p:ext uri="{BB962C8B-B14F-4D97-AF65-F5344CB8AC3E}">
        <p14:creationId xmlns:p14="http://schemas.microsoft.com/office/powerpoint/2010/main" val="78272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7293A9-B483-33F2-F3C8-7124B3870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レイアウト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1A02A88-1010-058E-D478-6791C0F22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302" y="1924110"/>
            <a:ext cx="10547396" cy="4797364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D0EBBE2-9385-301E-4FFF-1B1BACDE80DF}"/>
              </a:ext>
            </a:extLst>
          </p:cNvPr>
          <p:cNvSpPr txBox="1"/>
          <p:nvPr/>
        </p:nvSpPr>
        <p:spPr>
          <a:xfrm>
            <a:off x="1021224" y="3513937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solidFill>
                  <a:schemeClr val="bg1"/>
                </a:solidFill>
              </a:rPr>
              <a:t>vss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D662BA1-4E7B-4B87-6065-90782761A4C7}"/>
              </a:ext>
            </a:extLst>
          </p:cNvPr>
          <p:cNvSpPr txBox="1"/>
          <p:nvPr/>
        </p:nvSpPr>
        <p:spPr>
          <a:xfrm>
            <a:off x="979268" y="6352142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solidFill>
                  <a:schemeClr val="bg1"/>
                </a:solidFill>
              </a:rPr>
              <a:t>vdd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17998FB-420A-278D-B7EB-117A51A25EAE}"/>
              </a:ext>
            </a:extLst>
          </p:cNvPr>
          <p:cNvSpPr txBox="1"/>
          <p:nvPr/>
        </p:nvSpPr>
        <p:spPr>
          <a:xfrm>
            <a:off x="918354" y="4350697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solidFill>
                  <a:schemeClr val="bg1"/>
                </a:solidFill>
              </a:rPr>
              <a:t>vinp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086A495-2015-9644-DBF2-F2215064D913}"/>
              </a:ext>
            </a:extLst>
          </p:cNvPr>
          <p:cNvSpPr txBox="1"/>
          <p:nvPr/>
        </p:nvSpPr>
        <p:spPr>
          <a:xfrm>
            <a:off x="918354" y="4602289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solidFill>
                  <a:schemeClr val="bg1"/>
                </a:solidFill>
              </a:rPr>
              <a:t>vinn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26ACAA1-9B5A-7E13-4317-72B20A170D68}"/>
              </a:ext>
            </a:extLst>
          </p:cNvPr>
          <p:cNvSpPr txBox="1"/>
          <p:nvPr/>
        </p:nvSpPr>
        <p:spPr>
          <a:xfrm>
            <a:off x="991444" y="5607480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solidFill>
                  <a:schemeClr val="bg1"/>
                </a:solidFill>
              </a:rPr>
              <a:t>ib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DB047C2-387A-1F2B-5862-95F5B2194B39}"/>
              </a:ext>
            </a:extLst>
          </p:cNvPr>
          <p:cNvSpPr txBox="1"/>
          <p:nvPr/>
        </p:nvSpPr>
        <p:spPr>
          <a:xfrm>
            <a:off x="10773060" y="5510104"/>
            <a:ext cx="681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solidFill>
                  <a:schemeClr val="bg1"/>
                </a:solidFill>
              </a:rPr>
              <a:t>vout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258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2792BA-50B4-03A4-57AE-D3F64C2BE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反省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75D244E4-A975-EF5A-4DB1-AB722F02161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ja-JP" altLang="en-US" dirty="0"/>
              <a:t>回路図通りに並べて配線しただけで工夫が無い</a:t>
            </a:r>
            <a:endParaRPr lang="en-US" altLang="ja-JP" dirty="0"/>
          </a:p>
          <a:p>
            <a:pPr lvl="1"/>
            <a:r>
              <a:rPr lang="ja-JP" altLang="en-US" dirty="0"/>
              <a:t>ガードくらいは入れれば良かったと思う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配線が細い</a:t>
            </a:r>
            <a:endParaRPr lang="en-US" altLang="ja-JP" dirty="0"/>
          </a:p>
          <a:p>
            <a:pPr lvl="1"/>
            <a:r>
              <a:rPr lang="ja-JP" altLang="en-US" dirty="0"/>
              <a:t>もっと太く短く配線できたはず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フィンガーの端から配線を取り出しているので、</a:t>
            </a:r>
            <a:br>
              <a:rPr lang="en-US" altLang="ja-JP" dirty="0"/>
            </a:br>
            <a:r>
              <a:rPr lang="ja-JP" altLang="en-US" dirty="0"/>
              <a:t>両端で電位の違いがありそう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151521503"/>
      </p:ext>
    </p:extLst>
  </p:cSld>
  <p:clrMapOvr>
    <a:masterClrMapping/>
  </p:clrMapOvr>
</p:sld>
</file>

<file path=ppt/theme/theme1.xml><?xml version="1.0" encoding="utf-8"?>
<a:theme xmlns:a="http://schemas.openxmlformats.org/drawingml/2006/main" name="ユーザー設定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418_TF45331398_Win32" id="{425936A9-D287-42E4-A79F-75E6950236D6}" vid="{12592F7F-909F-4315-8BE5-A7B4FB28679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 panose="020F0302020204030204"/>
        <a:ea typeface=""/>
        <a:cs typeface=""/>
        <a:font script="Jpan" typeface="Meiryo UI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 panose="020F0502020204030204"/>
        <a:ea typeface=""/>
        <a:cs typeface=""/>
        <a:font script="Jpan" typeface="Meiryo UI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 panose="020F0302020204030204"/>
        <a:ea typeface=""/>
        <a:cs typeface=""/>
        <a:font script="Jpan" typeface="Meiryo UI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 panose="020F0502020204030204"/>
        <a:ea typeface=""/>
        <a:cs typeface=""/>
        <a:font script="Jpan" typeface="Meiryo UI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{F74AF6B3-859A-4B62-B872-2BB3CBDF553D}TF0e83fa2d-9a66-4e5e-9e82-acc620be7a49325e06bd_win32-c8f62445945c</Template>
  <TotalTime>120</TotalTime>
  <Words>144</Words>
  <Application>Microsoft Office PowerPoint</Application>
  <PresentationFormat>ワイド画面</PresentationFormat>
  <Paragraphs>39</Paragraphs>
  <Slides>7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0" baseType="lpstr">
      <vt:lpstr>Meiryo UI</vt:lpstr>
      <vt:lpstr>Arial</vt:lpstr>
      <vt:lpstr>ユーザー設定</vt:lpstr>
      <vt:lpstr>ISHI会オペアンプ設計</vt:lpstr>
      <vt:lpstr>コンセプト</vt:lpstr>
      <vt:lpstr>設計の基本方針</vt:lpstr>
      <vt:lpstr>全体回路</vt:lpstr>
      <vt:lpstr>レイアウトの方針</vt:lpstr>
      <vt:lpstr>レイアウト</vt:lpstr>
      <vt:lpstr>反省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政大 福岡</dc:creator>
  <cp:lastModifiedBy>政大 福岡</cp:lastModifiedBy>
  <cp:revision>2</cp:revision>
  <dcterms:created xsi:type="dcterms:W3CDTF">2026-05-02T13:56:19Z</dcterms:created>
  <dcterms:modified xsi:type="dcterms:W3CDTF">2026-05-03T11:02:03Z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